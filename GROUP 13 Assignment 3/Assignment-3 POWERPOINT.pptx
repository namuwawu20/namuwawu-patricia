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7" r:id="rId18"/>
    <p:sldId id="278" r:id="rId19"/>
    <p:sldId id="272" r:id="rId20"/>
    <p:sldId id="273"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44"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600A79C-9FCC-475F-8F46-E51D1924ABB4}" type="datetimeFigureOut">
              <a:rPr lang="en-US" smtClean="0"/>
              <a:t>9/30/2025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877E02-074B-4868-A23B-86FA55B5C063}" type="slidenum">
              <a:rPr lang="en-US" smtClean="0"/>
              <a:t>‹#›</a:t>
            </a:fld>
            <a:endParaRPr lang="en-US"/>
          </a:p>
        </p:txBody>
      </p:sp>
    </p:spTree>
    <p:extLst>
      <p:ext uri="{BB962C8B-B14F-4D97-AF65-F5344CB8AC3E}">
        <p14:creationId xmlns:p14="http://schemas.microsoft.com/office/powerpoint/2010/main" val="303661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a:t>
            </a:r>
            <a:endParaRPr lang="en-US" dirty="0"/>
          </a:p>
        </p:txBody>
      </p:sp>
      <p:sp>
        <p:nvSpPr>
          <p:cNvPr id="4" name="Slide Number Placeholder 3"/>
          <p:cNvSpPr>
            <a:spLocks noGrp="1"/>
          </p:cNvSpPr>
          <p:nvPr>
            <p:ph type="sldNum" sz="quarter" idx="10"/>
          </p:nvPr>
        </p:nvSpPr>
        <p:spPr/>
        <p:txBody>
          <a:bodyPr/>
          <a:lstStyle/>
          <a:p>
            <a:fld id="{3E877E02-074B-4868-A23B-86FA55B5C063}" type="slidenum">
              <a:rPr lang="en-US" smtClean="0"/>
              <a:t>11</a:t>
            </a:fld>
            <a:endParaRPr lang="en-US"/>
          </a:p>
        </p:txBody>
      </p:sp>
    </p:spTree>
    <p:extLst>
      <p:ext uri="{BB962C8B-B14F-4D97-AF65-F5344CB8AC3E}">
        <p14:creationId xmlns:p14="http://schemas.microsoft.com/office/powerpoint/2010/main" val="41246415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79769329-A3AF-4225-9380-06110388DFC4}" type="datetimeFigureOut">
              <a:rPr lang="en-US" smtClean="0"/>
              <a:t>9/30/2025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486731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769329-A3AF-4225-9380-06110388D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605300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9769329-A3AF-4225-9380-06110388D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0274310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5383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79769329-A3AF-4225-9380-06110388DFC4}" type="datetimeFigureOut">
              <a:rPr lang="en-US" smtClean="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2151154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79769329-A3AF-4225-9380-06110388DFC4}"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2825891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769329-A3AF-4225-9380-06110388DFC4}" type="datetimeFigureOut">
              <a:rPr lang="en-US" smtClean="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2558879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14172942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921030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6054000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40999442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09110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9769329-A3AF-4225-9380-06110388DFC4}" type="datetimeFigureOut">
              <a:rPr lang="en-US" smtClean="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2326856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9769329-A3AF-4225-9380-06110388DFC4}"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4255868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79769329-A3AF-4225-9380-06110388DFC4}" type="datetimeFigureOut">
              <a:rPr lang="en-US" smtClean="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44546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769329-A3AF-4225-9380-06110388D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1244192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9769329-A3AF-4225-9380-06110388DFC4}" type="datetimeFigureOut">
              <a:rPr lang="en-US" smtClean="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78C2FD-D23F-45B1-ADD1-0C21BFC90EDE}" type="slidenum">
              <a:rPr lang="en-US" smtClean="0"/>
              <a:t>‹#›</a:t>
            </a:fld>
            <a:endParaRPr lang="en-US"/>
          </a:p>
        </p:txBody>
      </p:sp>
    </p:spTree>
    <p:extLst>
      <p:ext uri="{BB962C8B-B14F-4D97-AF65-F5344CB8AC3E}">
        <p14:creationId xmlns:p14="http://schemas.microsoft.com/office/powerpoint/2010/main" val="3540700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9769329-A3AF-4225-9380-06110388DFC4}" type="datetimeFigureOut">
              <a:rPr lang="en-US" smtClean="0"/>
              <a:t>9/30/2025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578C2FD-D23F-45B1-ADD1-0C21BFC90EDE}" type="slidenum">
              <a:rPr lang="en-US" smtClean="0"/>
              <a:t>‹#›</a:t>
            </a:fld>
            <a:endParaRPr lang="en-US"/>
          </a:p>
        </p:txBody>
      </p:sp>
    </p:spTree>
    <p:extLst>
      <p:ext uri="{BB962C8B-B14F-4D97-AF65-F5344CB8AC3E}">
        <p14:creationId xmlns:p14="http://schemas.microsoft.com/office/powerpoint/2010/main" val="341083007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1499907" y="-233081"/>
            <a:ext cx="8791575" cy="5490882"/>
          </a:xfrm>
        </p:spPr>
        <p:txBody>
          <a:bodyPr>
            <a:normAutofit fontScale="90000"/>
          </a:bodyPr>
          <a:lstStyle/>
          <a:p>
            <a:r>
              <a:rPr lang="en-US" dirty="0" smtClean="0"/>
              <a:t/>
            </a:r>
            <a:br>
              <a:rPr lang="en-US" dirty="0" smtClean="0"/>
            </a:br>
            <a:r>
              <a:rPr lang="en-US" dirty="0" smtClean="0"/>
              <a:t/>
            </a:r>
            <a:br>
              <a:rPr lang="en-US" dirty="0" smtClean="0"/>
            </a:br>
            <a:r>
              <a:rPr lang="en-US" sz="6700" dirty="0" smtClean="0"/>
              <a:t/>
            </a:r>
            <a:br>
              <a:rPr lang="en-US" sz="6700" dirty="0" smtClean="0"/>
            </a:br>
            <a:r>
              <a:rPr lang="en-US" sz="6700" dirty="0" smtClean="0"/>
              <a:t>Algorithm Development:</a:t>
            </a:r>
            <a:r>
              <a:rPr lang="en-US" sz="6700" dirty="0" smtClean="0"/>
              <a:t> Numerical Methods in MATLAB </a:t>
            </a:r>
            <a:r>
              <a:rPr lang="en-US" dirty="0" smtClean="0"/>
              <a:t/>
            </a:r>
            <a:br>
              <a:rPr lang="en-US" dirty="0" smtClean="0"/>
            </a:br>
            <a:endParaRPr lang="en-US" dirty="0"/>
          </a:p>
        </p:txBody>
      </p:sp>
      <p:sp>
        <p:nvSpPr>
          <p:cNvPr id="3" name="Subtitle 2"/>
          <p:cNvSpPr>
            <a:spLocks noGrp="1"/>
          </p:cNvSpPr>
          <p:nvPr>
            <p:ph type="subTitle" idx="4294967295"/>
          </p:nvPr>
        </p:nvSpPr>
        <p:spPr>
          <a:xfrm>
            <a:off x="3890682" y="4787152"/>
            <a:ext cx="8301318" cy="1775013"/>
          </a:xfrm>
        </p:spPr>
        <p:txBody>
          <a:bodyPr>
            <a:normAutofit/>
          </a:bodyPr>
          <a:lstStyle/>
          <a:p>
            <a:pPr marL="0" indent="0">
              <a:buNone/>
            </a:pPr>
            <a:endParaRPr lang="en-US" dirty="0"/>
          </a:p>
          <a:p>
            <a:pPr marL="0" indent="0">
              <a:buNone/>
            </a:pPr>
            <a:r>
              <a:rPr lang="en-US" dirty="0" smtClean="0">
                <a:latin typeface="+mj-lt"/>
              </a:rPr>
              <a:t>GROUP 13</a:t>
            </a:r>
            <a:r>
              <a:rPr lang="en-US" dirty="0" smtClean="0"/>
              <a:t/>
            </a:r>
            <a:br>
              <a:rPr lang="en-US" dirty="0" smtClean="0"/>
            </a:br>
            <a:endParaRPr lang="en-US" dirty="0"/>
          </a:p>
        </p:txBody>
      </p:sp>
    </p:spTree>
    <p:extLst>
      <p:ext uri="{BB962C8B-B14F-4D97-AF65-F5344CB8AC3E}">
        <p14:creationId xmlns:p14="http://schemas.microsoft.com/office/powerpoint/2010/main" val="1031437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8214" y="1024918"/>
            <a:ext cx="9905998" cy="1478570"/>
          </a:xfrm>
        </p:spPr>
        <p:txBody>
          <a:bodyPr/>
          <a:lstStyle/>
          <a:p>
            <a:r>
              <a:rPr lang="en-US" dirty="0"/>
              <a:t>Brief overview of numerical methods for root finding and ODE solving</a:t>
            </a:r>
          </a:p>
        </p:txBody>
      </p:sp>
      <p:sp>
        <p:nvSpPr>
          <p:cNvPr id="3" name="Content Placeholder 2"/>
          <p:cNvSpPr>
            <a:spLocks noGrp="1"/>
          </p:cNvSpPr>
          <p:nvPr>
            <p:ph idx="1"/>
          </p:nvPr>
        </p:nvSpPr>
        <p:spPr>
          <a:xfrm>
            <a:off x="1141412" y="2264228"/>
            <a:ext cx="9905999" cy="4593771"/>
          </a:xfrm>
        </p:spPr>
        <p:txBody>
          <a:bodyPr>
            <a:normAutofit fontScale="85000" lnSpcReduction="20000"/>
          </a:bodyPr>
          <a:lstStyle/>
          <a:p>
            <a:pPr marL="0" indent="0">
              <a:buNone/>
            </a:pPr>
            <a:endParaRPr lang="en-US" dirty="0"/>
          </a:p>
          <a:p>
            <a:pPr marL="0" indent="0">
              <a:buNone/>
            </a:pPr>
            <a:endParaRPr lang="en-US" sz="2800" dirty="0">
              <a:latin typeface="+mj-lt"/>
            </a:endParaRPr>
          </a:p>
          <a:p>
            <a:pPr marL="0" indent="0">
              <a:buNone/>
            </a:pPr>
            <a:r>
              <a:rPr lang="en-US" sz="2800" dirty="0">
                <a:latin typeface="+mj-lt"/>
              </a:rPr>
              <a:t>Numerical methods are essential tools in mathematics and engineering for approximating solutions to problems that cannot be solved analytically. They are particularly useful for root finding and solving ordinary differential equations (ODEs). Numerical Methods for Root </a:t>
            </a:r>
            <a:r>
              <a:rPr lang="en-US" sz="2800" dirty="0" smtClean="0">
                <a:latin typeface="+mj-lt"/>
              </a:rPr>
              <a:t>Finding algorithms </a:t>
            </a:r>
            <a:r>
              <a:rPr lang="en-US" sz="2800" dirty="0">
                <a:latin typeface="+mj-lt"/>
              </a:rPr>
              <a:t>are designed to find the values of x for which a continuous function f(x) equals zero, i.e., f(x)=0. These values are called the "roots" or "zeros" of the function. Most numerical root-finding methods are iterative, meaning they generate a sequence of increasingly accurate approximations to the root, starting from one or more initial guesses</a:t>
            </a:r>
          </a:p>
        </p:txBody>
      </p:sp>
    </p:spTree>
    <p:extLst>
      <p:ext uri="{BB962C8B-B14F-4D97-AF65-F5344CB8AC3E}">
        <p14:creationId xmlns:p14="http://schemas.microsoft.com/office/powerpoint/2010/main" val="37811018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of algorithm design, control structures in MATLAB.</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Algorithms provide a </a:t>
            </a:r>
            <a:r>
              <a:rPr lang="en-US" b="1" dirty="0"/>
              <a:t>step-by-step approach</a:t>
            </a:r>
            <a:r>
              <a:rPr lang="en-US" dirty="0"/>
              <a:t> to solving engineering </a:t>
            </a:r>
            <a:r>
              <a:rPr lang="en-US" dirty="0" smtClean="0"/>
              <a:t>problems </a:t>
            </a:r>
            <a:r>
              <a:rPr lang="en-US" dirty="0"/>
              <a:t>systematically</a:t>
            </a:r>
            <a:r>
              <a:rPr lang="en-US" dirty="0" smtClean="0"/>
              <a:t>.</a:t>
            </a:r>
          </a:p>
          <a:p>
            <a:pPr marL="0" indent="0">
              <a:buNone/>
            </a:pPr>
            <a:r>
              <a:rPr lang="en-US" dirty="0"/>
              <a:t>Algorithms help manage </a:t>
            </a:r>
            <a:r>
              <a:rPr lang="en-US" b="1" dirty="0"/>
              <a:t>tolerance levels</a:t>
            </a:r>
            <a:r>
              <a:rPr lang="en-US" dirty="0"/>
              <a:t>, convergence checks, and error minimization.</a:t>
            </a:r>
          </a:p>
        </p:txBody>
      </p:sp>
    </p:spTree>
    <p:extLst>
      <p:ext uri="{BB962C8B-B14F-4D97-AF65-F5344CB8AC3E}">
        <p14:creationId xmlns:p14="http://schemas.microsoft.com/office/powerpoint/2010/main" val="2292699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314" y="1365141"/>
            <a:ext cx="8911771" cy="3185487"/>
          </a:xfrm>
          <a:prstGeom prst="rect">
            <a:avLst/>
          </a:prstGeom>
        </p:spPr>
        <p:txBody>
          <a:bodyPr wrap="square">
            <a:spAutoFit/>
          </a:bodyPr>
          <a:lstStyle/>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When generating the codes, we followed the specific steps for it to run;</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1. Define the Problem</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2. Choose the Appropriate Numerical Method</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3. Set Up the MATLAB Code</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4. Provide Necessary Inputs</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5. Execute and </a:t>
            </a:r>
            <a:r>
              <a:rPr lang="en-US" sz="2000" kern="100" dirty="0" err="1" smtClean="0">
                <a:effectLst/>
                <a:latin typeface="Times New Roman" panose="02020603050405020304" pitchFamily="18" charset="0"/>
                <a:ea typeface="Calibri" panose="020F0502020204030204" pitchFamily="34" charset="0"/>
                <a:cs typeface="Times New Roman" panose="02020603050405020304" pitchFamily="18" charset="0"/>
              </a:rPr>
              <a:t>Analyse</a:t>
            </a: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 Results</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n-US" sz="2000" kern="100" dirty="0" smtClean="0">
                <a:effectLst/>
                <a:latin typeface="Times New Roman" panose="02020603050405020304" pitchFamily="18" charset="0"/>
                <a:ea typeface="Calibri" panose="020F0502020204030204" pitchFamily="34" charset="0"/>
                <a:cs typeface="Times New Roman" panose="02020603050405020304" pitchFamily="18" charset="0"/>
              </a:rPr>
              <a:t>6. Validate and Refine</a:t>
            </a:r>
            <a:endParaRPr lang="en-US" sz="2000" kern="100" dirty="0" smtClean="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992608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Newton  Raphson method</a:t>
            </a:r>
            <a:endParaRPr lang="en-US" b="1"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3163" r="3163"/>
          <a:stretch>
            <a:fillRect/>
          </a:stretch>
        </p:blipFill>
        <p:spPr>
          <a:xfrm>
            <a:off x="7075921" y="1143001"/>
            <a:ext cx="4223657" cy="5181599"/>
          </a:xfrm>
        </p:spPr>
      </p:pic>
      <p:sp>
        <p:nvSpPr>
          <p:cNvPr id="4" name="Text Placeholder 3"/>
          <p:cNvSpPr>
            <a:spLocks noGrp="1"/>
          </p:cNvSpPr>
          <p:nvPr>
            <p:ph type="body" sz="half" idx="2"/>
          </p:nvPr>
        </p:nvSpPr>
        <p:spPr/>
        <p:txBody>
          <a:bodyPr>
            <a:normAutofit/>
          </a:bodyPr>
          <a:lstStyle/>
          <a:p>
            <a:r>
              <a:rPr lang="en-US" sz="2800" dirty="0" smtClean="0"/>
              <a:t>For this method, the flow chart attached was derived and it helped us come up with the codes </a:t>
            </a:r>
            <a:endParaRPr lang="en-US" sz="2800" dirty="0"/>
          </a:p>
        </p:txBody>
      </p:sp>
    </p:spTree>
    <p:extLst>
      <p:ext uri="{BB962C8B-B14F-4D97-AF65-F5344CB8AC3E}">
        <p14:creationId xmlns:p14="http://schemas.microsoft.com/office/powerpoint/2010/main" val="293225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890968"/>
          </a:xfrm>
        </p:spPr>
        <p:txBody>
          <a:bodyPr/>
          <a:lstStyle/>
          <a:p>
            <a:r>
              <a:rPr lang="en-US" dirty="0" smtClean="0"/>
              <a:t>Pseudo code</a:t>
            </a: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41413" y="1262743"/>
            <a:ext cx="5825444" cy="5595257"/>
          </a:xfrm>
        </p:spPr>
      </p:pic>
      <p:pic>
        <p:nvPicPr>
          <p:cNvPr id="6" name="Content Placeholder 5"/>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734629" y="1799771"/>
            <a:ext cx="5457371" cy="2830285"/>
          </a:xfrm>
        </p:spPr>
      </p:pic>
    </p:spTree>
    <p:extLst>
      <p:ext uri="{BB962C8B-B14F-4D97-AF65-F5344CB8AC3E}">
        <p14:creationId xmlns:p14="http://schemas.microsoft.com/office/powerpoint/2010/main" val="415219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Matlab</a:t>
            </a:r>
            <a:r>
              <a:rPr lang="en-US" dirty="0" smtClean="0"/>
              <a:t>  codes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1413" y="1640114"/>
            <a:ext cx="9294358" cy="4818743"/>
          </a:xfrm>
        </p:spPr>
      </p:pic>
    </p:spTree>
    <p:extLst>
      <p:ext uri="{BB962C8B-B14F-4D97-AF65-F5344CB8AC3E}">
        <p14:creationId xmlns:p14="http://schemas.microsoft.com/office/powerpoint/2010/main" val="3631227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Secant method</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571625"/>
            <a:ext cx="6429375" cy="5143500"/>
          </a:xfrm>
        </p:spPr>
      </p:pic>
    </p:spTree>
    <p:extLst>
      <p:ext uri="{BB962C8B-B14F-4D97-AF65-F5344CB8AC3E}">
        <p14:creationId xmlns:p14="http://schemas.microsoft.com/office/powerpoint/2010/main" val="3717510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Pseudo codes and </a:t>
            </a:r>
            <a:r>
              <a:rPr lang="en-US" dirty="0" err="1" smtClean="0"/>
              <a:t>matlab</a:t>
            </a:r>
            <a:endParaRPr lang="en-US" dirty="0"/>
          </a:p>
        </p:txBody>
      </p:sp>
      <p:pic>
        <p:nvPicPr>
          <p:cNvPr id="10" name="Content Placeholder 9"/>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504825" y="1800226"/>
            <a:ext cx="5514975" cy="432435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11" name="Content Placeholder 10"/>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435724" y="1800226"/>
            <a:ext cx="5419725" cy="44291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53147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1019782"/>
          </a:xfrm>
        </p:spPr>
        <p:txBody>
          <a:bodyPr/>
          <a:lstStyle/>
          <a:p>
            <a:r>
              <a:rPr lang="en-US" dirty="0" err="1" smtClean="0"/>
              <a:t>euler’s</a:t>
            </a:r>
            <a:r>
              <a:rPr lang="en-US" dirty="0" smtClean="0"/>
              <a:t>   method </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1250" y="1944688"/>
            <a:ext cx="5408060" cy="4913312"/>
          </a:xfrm>
        </p:spPr>
      </p:pic>
    </p:spTree>
    <p:extLst>
      <p:ext uri="{BB962C8B-B14F-4D97-AF65-F5344CB8AC3E}">
        <p14:creationId xmlns:p14="http://schemas.microsoft.com/office/powerpoint/2010/main" val="122417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0" y="581027"/>
            <a:ext cx="9906000" cy="838199"/>
          </a:xfrm>
        </p:spPr>
        <p:txBody>
          <a:bodyPr/>
          <a:lstStyle/>
          <a:p>
            <a:r>
              <a:rPr lang="en-US" dirty="0" err="1" smtClean="0"/>
              <a:t>Psuedo</a:t>
            </a:r>
            <a:r>
              <a:rPr lang="en-US" dirty="0" smtClean="0"/>
              <a:t> and </a:t>
            </a:r>
            <a:r>
              <a:rPr lang="en-US" dirty="0" err="1" smtClean="0"/>
              <a:t>matlab</a:t>
            </a:r>
            <a:r>
              <a:rPr lang="en-US" dirty="0" smtClean="0"/>
              <a:t> codes </a:t>
            </a:r>
            <a:endParaRPr lang="en-US" dirty="0"/>
          </a:p>
        </p:txBody>
      </p:sp>
      <p:sp>
        <p:nvSpPr>
          <p:cNvPr id="3" name="Text Placeholder 2"/>
          <p:cNvSpPr>
            <a:spLocks noGrp="1"/>
          </p:cNvSpPr>
          <p:nvPr>
            <p:ph type="body" idx="1"/>
          </p:nvPr>
        </p:nvSpPr>
        <p:spPr>
          <a:xfrm>
            <a:off x="1031884" y="1344217"/>
            <a:ext cx="4649783" cy="420687"/>
          </a:xfrm>
        </p:spPr>
        <p:txBody>
          <a:bodyPr/>
          <a:lstStyle/>
          <a:p>
            <a:r>
              <a:rPr lang="en-US" dirty="0" err="1" smtClean="0"/>
              <a:t>Psuedo</a:t>
            </a:r>
            <a:r>
              <a:rPr lang="en-US" dirty="0" smtClean="0"/>
              <a:t> codes </a:t>
            </a:r>
            <a:endParaRPr lang="en-US" dirty="0"/>
          </a:p>
        </p:txBody>
      </p:sp>
      <p:pic>
        <p:nvPicPr>
          <p:cNvPr id="7" name="Content Placeholder 6"/>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946160" y="1957388"/>
            <a:ext cx="3873490" cy="473546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5" name="Text Placeholder 4"/>
          <p:cNvSpPr>
            <a:spLocks noGrp="1"/>
          </p:cNvSpPr>
          <p:nvPr>
            <p:ph type="body" sz="quarter" idx="3"/>
          </p:nvPr>
        </p:nvSpPr>
        <p:spPr>
          <a:xfrm>
            <a:off x="6400808" y="1344217"/>
            <a:ext cx="4646602" cy="420687"/>
          </a:xfrm>
        </p:spPr>
        <p:txBody>
          <a:bodyPr/>
          <a:lstStyle/>
          <a:p>
            <a:r>
              <a:rPr lang="en-US" dirty="0" err="1" smtClean="0"/>
              <a:t>Matlab</a:t>
            </a:r>
            <a:r>
              <a:rPr lang="en-US" dirty="0" smtClean="0"/>
              <a:t> codes </a:t>
            </a:r>
            <a:endParaRPr lang="en-US" dirty="0"/>
          </a:p>
        </p:txBody>
      </p:sp>
      <p:pic>
        <p:nvPicPr>
          <p:cNvPr id="8" name="Content Placeholder 7"/>
          <p:cNvPicPr>
            <a:picLocks noGrp="1" noChangeAspect="1"/>
          </p:cNvPicPr>
          <p:nvPr>
            <p:ph sz="quarter" idx="4"/>
          </p:nvPr>
        </p:nvPicPr>
        <p:blipFill>
          <a:blip r:embed="rId4">
            <a:extLst>
              <a:ext uri="{28A0092B-C50C-407E-A947-70E740481C1C}">
                <a14:useLocalDpi xmlns:a14="http://schemas.microsoft.com/office/drawing/2010/main" val="0"/>
              </a:ext>
            </a:extLst>
          </a:blip>
          <a:stretch>
            <a:fillRect/>
          </a:stretch>
        </p:blipFill>
        <p:spPr>
          <a:xfrm>
            <a:off x="6629401" y="2000251"/>
            <a:ext cx="4570408" cy="444817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097366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Runge</a:t>
            </a:r>
            <a:r>
              <a:rPr lang="en-US" dirty="0" smtClean="0"/>
              <a:t> </a:t>
            </a:r>
            <a:r>
              <a:rPr lang="en-US" dirty="0" err="1" smtClean="0"/>
              <a:t>kutta</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7825" y="1590675"/>
            <a:ext cx="7620000" cy="5267325"/>
          </a:xfrm>
        </p:spPr>
      </p:pic>
    </p:spTree>
    <p:extLst>
      <p:ext uri="{BB962C8B-B14F-4D97-AF65-F5344CB8AC3E}">
        <p14:creationId xmlns:p14="http://schemas.microsoft.com/office/powerpoint/2010/main" val="3651403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Pseudo and </a:t>
            </a:r>
            <a:r>
              <a:rPr lang="en-US" dirty="0" err="1" smtClean="0"/>
              <a:t>matlab</a:t>
            </a:r>
            <a:r>
              <a:rPr lang="en-US" dirty="0" smtClean="0"/>
              <a:t> codes</a:t>
            </a:r>
            <a:endParaRPr lang="en-US" dirty="0"/>
          </a:p>
        </p:txBody>
      </p:sp>
      <p:pic>
        <p:nvPicPr>
          <p:cNvPr id="5" name="Content Placeholder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33426" y="2266950"/>
            <a:ext cx="6115050" cy="3829050"/>
          </a:xfrm>
        </p:spPr>
      </p:pic>
      <p:pic>
        <p:nvPicPr>
          <p:cNvPr id="8" name="Content Placeholder 7"/>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633093" y="2357999"/>
            <a:ext cx="3953427" cy="3324689"/>
          </a:xfrm>
        </p:spPr>
      </p:pic>
    </p:spTree>
    <p:extLst>
      <p:ext uri="{BB962C8B-B14F-4D97-AF65-F5344CB8AC3E}">
        <p14:creationId xmlns:p14="http://schemas.microsoft.com/office/powerpoint/2010/main" val="2308372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smtClean="0"/>
              <a:t>Huens</a:t>
            </a:r>
            <a:r>
              <a:rPr lang="en-US" dirty="0" smtClean="0"/>
              <a:t> method </a:t>
            </a:r>
            <a:endParaRPr lang="en-US" dirty="0"/>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3450" y="1790700"/>
            <a:ext cx="8029575" cy="5067300"/>
          </a:xfrm>
        </p:spPr>
      </p:pic>
    </p:spTree>
    <p:extLst>
      <p:ext uri="{BB962C8B-B14F-4D97-AF65-F5344CB8AC3E}">
        <p14:creationId xmlns:p14="http://schemas.microsoft.com/office/powerpoint/2010/main" val="2890422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425" y="1438276"/>
            <a:ext cx="11125200" cy="5419724"/>
          </a:xfrm>
          <a:prstGeom prst="rect">
            <a:avLst/>
          </a:prstGeom>
        </p:spPr>
      </p:pic>
    </p:spTree>
    <p:extLst>
      <p:ext uri="{BB962C8B-B14F-4D97-AF65-F5344CB8AC3E}">
        <p14:creationId xmlns:p14="http://schemas.microsoft.com/office/powerpoint/2010/main" val="1623683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150" y="952501"/>
            <a:ext cx="10829925" cy="5838824"/>
          </a:xfrm>
          <a:prstGeom prst="rect">
            <a:avLst/>
          </a:prstGeom>
        </p:spPr>
      </p:pic>
    </p:spTree>
    <p:extLst>
      <p:ext uri="{BB962C8B-B14F-4D97-AF65-F5344CB8AC3E}">
        <p14:creationId xmlns:p14="http://schemas.microsoft.com/office/powerpoint/2010/main" val="1768600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650" y="251969"/>
            <a:ext cx="10058400" cy="5849130"/>
          </a:xfrm>
          <a:prstGeom prst="rect">
            <a:avLst/>
          </a:prstGeom>
        </p:spPr>
      </p:pic>
    </p:spTree>
    <p:extLst>
      <p:ext uri="{BB962C8B-B14F-4D97-AF65-F5344CB8AC3E}">
        <p14:creationId xmlns:p14="http://schemas.microsoft.com/office/powerpoint/2010/main" val="15271425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2758" y="1195075"/>
            <a:ext cx="6506483" cy="4467849"/>
          </a:xfrm>
          <a:prstGeom prst="rect">
            <a:avLst/>
          </a:prstGeom>
        </p:spPr>
      </p:pic>
    </p:spTree>
    <p:extLst>
      <p:ext uri="{BB962C8B-B14F-4D97-AF65-F5344CB8AC3E}">
        <p14:creationId xmlns:p14="http://schemas.microsoft.com/office/powerpoint/2010/main" val="7747071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6458" y="933004"/>
            <a:ext cx="10058400" cy="5745207"/>
          </a:xfrm>
          <a:prstGeom prst="rect">
            <a:avLst/>
          </a:prstGeom>
        </p:spPr>
      </p:pic>
    </p:spTree>
    <p:extLst>
      <p:ext uri="{BB962C8B-B14F-4D97-AF65-F5344CB8AC3E}">
        <p14:creationId xmlns:p14="http://schemas.microsoft.com/office/powerpoint/2010/main" val="2379274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6850" y="1971675"/>
            <a:ext cx="6539179" cy="4448175"/>
          </a:xfrm>
          <a:prstGeom prst="rect">
            <a:avLst/>
          </a:prstGeom>
        </p:spPr>
      </p:pic>
    </p:spTree>
    <p:extLst>
      <p:ext uri="{BB962C8B-B14F-4D97-AF65-F5344CB8AC3E}">
        <p14:creationId xmlns:p14="http://schemas.microsoft.com/office/powerpoint/2010/main" val="5138879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4826" y="457200"/>
            <a:ext cx="8592032" cy="5891555"/>
          </a:xfrm>
          <a:prstGeom prst="rect">
            <a:avLst/>
          </a:prstGeom>
        </p:spPr>
      </p:pic>
    </p:spTree>
    <p:extLst>
      <p:ext uri="{BB962C8B-B14F-4D97-AF65-F5344CB8AC3E}">
        <p14:creationId xmlns:p14="http://schemas.microsoft.com/office/powerpoint/2010/main" val="1626298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conclusion</a:t>
            </a:r>
            <a:endParaRPr lang="en-US" dirty="0"/>
          </a:p>
        </p:txBody>
      </p:sp>
      <p:sp>
        <p:nvSpPr>
          <p:cNvPr id="3" name="Text Placeholder 2"/>
          <p:cNvSpPr>
            <a:spLocks noGrp="1"/>
          </p:cNvSpPr>
          <p:nvPr>
            <p:ph type="body" sz="half" idx="2"/>
          </p:nvPr>
        </p:nvSpPr>
        <p:spPr>
          <a:xfrm>
            <a:off x="1141410" y="3181351"/>
            <a:ext cx="9904459" cy="2609848"/>
          </a:xfrm>
        </p:spPr>
        <p:txBody>
          <a:bodyPr>
            <a:normAutofit/>
          </a:bodyPr>
          <a:lstStyle/>
          <a:p>
            <a:r>
              <a:rPr lang="en-US" dirty="0" smtClean="0"/>
              <a:t>Numerical </a:t>
            </a:r>
            <a:r>
              <a:rPr lang="en-US" dirty="0"/>
              <a:t>methods in MATLAB provide powerful tools for solving complex mathematical problems that cannot be addressed analytically to problems such as non-linear equations, differential equations, and optimization tasks. These methods are essential for tackling real-world challenges in engineering, physics, and other scientific fields.</a:t>
            </a:r>
          </a:p>
          <a:p>
            <a:endParaRPr lang="en-US" dirty="0"/>
          </a:p>
        </p:txBody>
      </p:sp>
    </p:spTree>
    <p:extLst>
      <p:ext uri="{BB962C8B-B14F-4D97-AF65-F5344CB8AC3E}">
        <p14:creationId xmlns:p14="http://schemas.microsoft.com/office/powerpoint/2010/main" val="91277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RECOMMENDATION</a:t>
            </a:r>
            <a:r>
              <a:rPr lang="en-US" dirty="0"/>
              <a:t/>
            </a:r>
            <a:br>
              <a:rPr lang="en-US" dirty="0"/>
            </a:br>
            <a:r>
              <a:rPr lang="en-US" dirty="0"/>
              <a:t/>
            </a:r>
            <a:br>
              <a:rPr lang="en-US" dirty="0"/>
            </a:br>
            <a:endParaRPr lang="en-US" dirty="0"/>
          </a:p>
        </p:txBody>
      </p:sp>
      <p:sp>
        <p:nvSpPr>
          <p:cNvPr id="3" name="Text Placeholder 2"/>
          <p:cNvSpPr>
            <a:spLocks noGrp="1"/>
          </p:cNvSpPr>
          <p:nvPr>
            <p:ph type="body" sz="half" idx="2"/>
          </p:nvPr>
        </p:nvSpPr>
        <p:spPr>
          <a:xfrm>
            <a:off x="1141410" y="3028951"/>
            <a:ext cx="9904459" cy="2762248"/>
          </a:xfrm>
        </p:spPr>
        <p:txBody>
          <a:bodyPr>
            <a:normAutofit/>
          </a:bodyPr>
          <a:lstStyle/>
          <a:p>
            <a:r>
              <a:rPr lang="en-US" dirty="0"/>
              <a:t>Clearly define the mathematical model and its constraints.</a:t>
            </a:r>
            <a:br>
              <a:rPr lang="en-US" dirty="0"/>
            </a:br>
            <a:r>
              <a:rPr lang="en-US" dirty="0"/>
              <a:t>Select an appropriate numerical method (e.g., Newton-Raphson, finite difference) based on the problem type.</a:t>
            </a:r>
            <a:br>
              <a:rPr lang="en-US" dirty="0"/>
            </a:br>
            <a:r>
              <a:rPr lang="en-US" dirty="0"/>
              <a:t>Always verify the accuracy of results by comparing with known solutions or conducting sensitivity analyses.</a:t>
            </a:r>
          </a:p>
        </p:txBody>
      </p:sp>
    </p:spTree>
    <p:extLst>
      <p:ext uri="{BB962C8B-B14F-4D97-AF65-F5344CB8AC3E}">
        <p14:creationId xmlns:p14="http://schemas.microsoft.com/office/powerpoint/2010/main" val="29713315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221</TotalTime>
  <Words>315</Words>
  <Application>Microsoft Office PowerPoint</Application>
  <PresentationFormat>Widescreen</PresentationFormat>
  <Paragraphs>36</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Trebuchet MS</vt:lpstr>
      <vt:lpstr>Circuit</vt:lpstr>
      <vt:lpstr>   Algorithm Development: Numerical Methods in MATLAB  </vt:lpstr>
      <vt:lpstr>Brief overview of numerical methods for root finding and ODE solving</vt:lpstr>
      <vt:lpstr>Importance of algorithm design, control structures in MATLAB. </vt:lpstr>
      <vt:lpstr>PowerPoint Presentation</vt:lpstr>
      <vt:lpstr>Newton  Raphson method</vt:lpstr>
      <vt:lpstr>Pseudo code</vt:lpstr>
      <vt:lpstr>Matlab  codes</vt:lpstr>
      <vt:lpstr>Secant method</vt:lpstr>
      <vt:lpstr>Pseudo codes and matlab</vt:lpstr>
      <vt:lpstr>euler’s   method </vt:lpstr>
      <vt:lpstr>Psuedo and matlab codes </vt:lpstr>
      <vt:lpstr>Runge kutta</vt:lpstr>
      <vt:lpstr>Pseudo and matlab codes</vt:lpstr>
      <vt:lpstr>Huens method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RECOMMENDATION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Algorithm Development: Numerical Methods in MATLAB  </dc:title>
  <dc:creator>ANNA GRACE</dc:creator>
  <cp:lastModifiedBy>ANNA GRACE</cp:lastModifiedBy>
  <cp:revision>19</cp:revision>
  <dcterms:created xsi:type="dcterms:W3CDTF">2025-09-30T09:41:55Z</dcterms:created>
  <dcterms:modified xsi:type="dcterms:W3CDTF">2025-09-30T13:23:03Z</dcterms:modified>
</cp:coreProperties>
</file>